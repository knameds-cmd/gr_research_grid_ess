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earch meeting" id="{c3d00dba-ca30-17ed-2340-578b5ef9d59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Research Topic and Objectives</a:t>
            </a:r>
            <a:endParaRPr lang="en-US" sz="3000" dirty="0"/>
          </a:p>
        </p:txBody>
      </p:sp>
      <p:graphicFrame>
        <p:nvGraphicFramePr>
          <p:cNvPr id="2" name="Research topi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919472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Topic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i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Which GB market product rules made grid-scale batteries profitable, and how much does each rule change revenue and operation?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Question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want to find out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RQ1  Revenue evolution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the battery revenue mix changed from 2020 to 2026, and which rule changes defined each phase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Revenue-stack decomposition from public data; rule timeline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RQ2  Rule attribution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much each rule (fast frequency response, EAC co-optimisation, SoE rule, reserve products, BM access) contributes to revenue, and whether this differs between phases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Rule on/off counterfactuals in an optimisation model; Shapley decomposition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RQ3  Operating strategy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optimal bidding and operation (service allocation, cycling, state of energy) change when rules change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Perfect-foresight vs rolling-horizon MILP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Benchmark  Realised revenue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far actual battery revenue falls below the model upper bound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Unit-level revenue rebuilt from public EAC, BM and wholesale data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GB Market Phases</a:t>
            </a:r>
            <a:endParaRPr lang="en-US" sz="3000" dirty="0"/>
          </a:p>
        </p:txBody>
      </p:sp>
      <p:graphicFrame>
        <p:nvGraphicFramePr>
          <p:cNvPr id="3" name="Market pha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00200"/>
                <a:gridCol w="4462272"/>
                <a:gridCol w="2514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Phase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Period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rule changes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Battery revenue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  Contracted Entry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2016 – Sep 2020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Enhanced Frequency Response tender (2016, 4-year contracts); Firm Frequency Response; Capacity Market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First commercial batteries on fixed-term contracts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  Scarcity Boom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 2020 – 2022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Dynamic Containment launched (price cap £17/MW/h); DC + BM stacking allowed (2021); DM and DR (2022)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Frequency response ≈ 90% of revenue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 Saturation and EAC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 – 2024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DC prices fall by over 90%; EAC co-optimised auction (Nov 2023); Balancing Reserve and 30-min rule (Mar 2024); SoE rules (2024); Quick Reserve (Dec 2024)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Shift to wholesale + BM; ≈ £50k/MW/yr in 2024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  Merchant and Dispatch Reform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 – present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Quick Reserve open to non-BM units (Sep 2025); BR moves into EAC (Oct 2025); Slow Reserve (Mar 2026); GC0166 BM parameters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Wholesale + BM ≈ 60%, ancillary ≈ 1/3, Capacity Market ≈ 10%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Analysis note"/>
          <p:cNvSpPr txBox="1"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model compares pre-EAC (2021 – Oct 2023) and post-EAC (Nov 2023 onwards) conditions with the same engine.</a:t>
            </a:r>
            <a:endParaRPr lang="en-US" sz="1600" dirty="0"/>
          </a:p>
        </p:txBody>
      </p:sp>
      <p:sp>
        <p:nvSpPr>
          <p:cNvPr id="5" name="Source note"/>
          <p:cNvSpPr txBox="1"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Revenue shares: Modo GB index, indicative.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Modelling Approach and Rationale</a:t>
            </a:r>
            <a:endParaRPr lang="en-US" sz="3000" dirty="0"/>
          </a:p>
        </p:txBody>
      </p:sp>
      <p:graphicFrame>
        <p:nvGraphicFramePr>
          <p:cNvPr id="4" name="Modell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59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Modelling choice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Rationale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Perfect-foresight MILP (first layer)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Gives the revenue upper bound; losses from imperfect information (rolling horizon) and BM non-acceptance are measured against it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Price-taking battery, 50 MW / 2 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single unit barely moves prices; 2 h is the dominant new-build duration (1 h and 4 h as scenarios)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30-min periods; DC/DM/DR fixed per 4-h EFA block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Matches GB settlement and the auction product definitions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Wholesale price: Elexon MID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Free and public; also used by the closest Q1 study (Gale et al. 2026), so results are comparable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Revenue: wholesale + EAC services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DC/DM/DR and BR/QR/SR can be stacked with trading in the same period; BM and Capacity Market are added as later layers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Headroom and energy constraints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Services must be deliverable: power margin around the baseline, energy for the contracted duration (2024 SoE rule), energy drawn by frequency response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Charge/discharge binaries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Prevent simultaneous charging and discharging at negative prices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Rule switches + Shapley decomposition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Attribute revenue to each rule; Shapley averages over all orderings because rules interact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54864" marB="54864" anchor="t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Meeting">
  <a:themeElements>
    <a:clrScheme name="Research Meeting">
      <a:dk1>
        <a:srgbClr val="000000"/>
      </a:dk1>
      <a:lt1>
        <a:srgbClr val="FFFFFF"/>
      </a:lt1>
      <a:dk2>
        <a:srgbClr val="262626"/>
      </a:dk2>
      <a:lt2>
        <a:srgbClr val="F2F2F2"/>
      </a:lt2>
      <a:accent1>
        <a:srgbClr val="1F3864"/>
      </a:accent1>
      <a:accent2>
        <a:srgbClr val="595959"/>
      </a:accent2>
      <a:accent3>
        <a:srgbClr val="7F7F7F"/>
      </a:accent3>
      <a:accent4>
        <a:srgbClr val="A6A6A6"/>
      </a:accent4>
      <a:accent5>
        <a:srgbClr val="BFBFBF"/>
      </a:accent5>
      <a:accent6>
        <a:srgbClr val="D9D9D9"/>
      </a:accent6>
      <a:hlink>
        <a:srgbClr val="1F3864"/>
      </a:hlink>
      <a:folHlink>
        <a:srgbClr val="595959"/>
      </a:folHlink>
    </a:clrScheme>
    <a:fontScheme name="Research Meeting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 grid-scale batteries and market rules: research meeting</dc:title>
  <dc:subject>PptxGenJS Presentation</dc:subject>
  <dc:creator>PptxGenJS</dc:creator>
  <cp:lastModifiedBy>PptxGenJS</cp:lastModifiedBy>
  <cp:revision>1</cp:revision>
  <dcterms:created xsi:type="dcterms:W3CDTF">2026-10-13T12:23:42Z</dcterms:created>
  <dcterms:modified xsi:type="dcterms:W3CDTF">2026-10-13T12:23:42Z</dcterms:modified>
</cp:coreProperties>
</file>